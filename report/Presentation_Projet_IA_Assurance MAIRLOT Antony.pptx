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379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4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Tarification et détection d'anomalies</a:t>
            </a:r>
            <a:b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 les sinistres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Approche hybride XGBoost, Autoencodeurs (Deep Learning) et Analyse Agentique (LLM)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Projet d'évaluation — IA &amp; Assurance — ML, Deep Learning &amp; IA Générative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Antony MAIRLOT  —  Kaggle: Actuarial Loss Estimation (54 000 polices)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1 — INTRODUCTION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et problématique métier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 sinistre accident du travail déclaré ne révèle qu'une estimation partielle de son coût final. Deux questions décisionnelles en découlent :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48640" y="2468880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68680" y="2788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691640" y="285292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Tarification / provisionnement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8680" y="370332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Estimer au plus tôt le coût ultime probable d'un sinistre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À partir de la police, de l'assuré et de la description initiale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Améliorer le provisionnement (réduction de l'IBNER)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263640" y="2468880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583680" y="2788920"/>
            <a:ext cx="640080" cy="640080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583680" y="2788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406640" y="285292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Détection d'anomalies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3680" y="370332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Identifier les sinistres au profil statistique atypique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Risque de sous-provisionnement, erreur de saisie, fraude potentielle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Orienter la revue humaine vers les cas à plus forte valeur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2 — DONNÉES &amp; PÉRIMÈTRE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: Kaggle Actuarial Loss Estimation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85800" y="152704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54 000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0080" y="2450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polices d'assurance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accidents du travail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383280" y="14173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520440" y="152704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474720" y="2450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(num., cat., dates, texte)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6217920" y="14173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355080" y="152704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0.05%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09360" y="2450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valeurs manquantes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(MaritalStatus)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9052560" y="14173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189720" y="152704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0" y="2450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doublons détectés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Variables clés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" y="3657600"/>
            <a:ext cx="53949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Cible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UltimateIncurredClaimCost (coût ultime à prédire)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Numériques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Age, WeeklyWages, HoursWorkedPerWeek, DaysWorkedPerWeek, InitialIncurredCalimsCost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Catégorielles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Gender, MaritalStatus, DependentChildren, DependentsOther, PartTimeFullTime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172200" y="3657600"/>
            <a:ext cx="53949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Dates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DateTimeOfAccident, DateReported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Texte libre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ClaimDescription (ex. «LIFTING TYRE INJURY TO RIGHT ARM»)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Qualité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outlier notable sur HoursWorkedPerWeek (jusqu'à 640h/semaine)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2 — ANALYSE APPROFONDIE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48640" y="384048"/>
            <a:ext cx="10515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fr-FR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Analyse exploratoire et traitement des données</a:t>
            </a:r>
            <a:endParaRPr sz="28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</a:t>
            </a:r>
            <a:r>
              <a:rPr lang="en-US" sz="9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Tarification</a:t>
            </a:r>
            <a:r>
              <a:rPr lang="en-US" sz="9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lang="en-US" sz="9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détection</a:t>
            </a:r>
            <a:r>
              <a:rPr lang="en-US" sz="9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d'anomalies</a:t>
            </a:r>
            <a:r>
              <a:rPr lang="en-US" sz="9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sur les </a:t>
            </a:r>
            <a:r>
              <a:rPr lang="en-US" sz="9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sinistres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48640" y="1417320"/>
            <a:ext cx="55778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Imputation :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catégorie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explicite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« Missing » (pas le mode) pour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MaritalStatus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validée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par test de Mann-Whitney (p=0.08, tendance suggestive sur n=29)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Pearson vs Spearman :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corrélation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InitialIncurredCalimsCost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cible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= 0.39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Pearson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0.88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Spearman - Pearson est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mathématiquement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inadapté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cible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de skewness 37.6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bivariée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catégorielle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5/5 variables (Gender,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MaritalStatus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PartTimeFullTime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DependentChildren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DependentsOther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significativement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associées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au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coût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(Kruskal-Wallis, p&lt;0.05)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temporelle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tendance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nominale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+8.9%/an sur 17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ramenée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à +4.0%/an après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ajustement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d'inflation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médicale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CPI BLS)</a:t>
            </a:r>
            <a:endParaRPr dirty="0"/>
          </a:p>
        </p:txBody>
      </p:sp>
      <p:sp>
        <p:nvSpPr>
          <p:cNvPr id="143" name="Google Shape;143;p16"/>
          <p:cNvSpPr/>
          <p:nvPr/>
        </p:nvSpPr>
        <p:spPr>
          <a:xfrm>
            <a:off x="6400800" y="146304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537960" y="1572768"/>
            <a:ext cx="49377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0.39 -&gt; 0.88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92240" y="25420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Corrélation Pearson vs Spearman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(InitialIncurredCalimsCost / cible)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400800" y="310896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537960" y="3218688"/>
            <a:ext cx="49377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+8.9% -&gt; +4.0%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92240" y="41879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Tendance annuelle du coût,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avant / après ajustement d'inflation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00800" y="4800600"/>
            <a:ext cx="5212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Les femmes (22.8% du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portefeuille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ont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coût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moyen 23% supérieur aux hommes ; les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sinistres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avec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DependentsOther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renseigné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(0.9%)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coûtent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2x plus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cher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moyenne</a:t>
            </a:r>
            <a:r>
              <a:rPr lang="en-US" sz="1300" b="0" i="1" u="none" strike="noStrike" cap="none" dirty="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3 — MODÉLISATION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: 3 flux complémentaires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48640" y="182880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 cap="flat" cmpd="sng">
            <a:solidFill>
              <a:srgbClr val="1F6F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48640" y="1828800"/>
            <a:ext cx="3246120" cy="50292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48640" y="190195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1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31520" y="25146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31520" y="306324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b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+ Optuna (hyperparamétrage)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297680" y="182880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 cap="flat" cmpd="sng">
            <a:solidFill>
              <a:srgbClr val="1A3C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297680" y="1828800"/>
            <a:ext cx="3246120" cy="5029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4297680" y="190195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2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480560" y="25146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480560" y="306324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Autoencodeur</a:t>
            </a:r>
            <a:b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Dense 64-32-16-32-64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8046720" y="182880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 cap="flat" cmpd="sng">
            <a:solidFill>
              <a:srgbClr val="B88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046720" y="1828800"/>
            <a:ext cx="3246120" cy="502920"/>
          </a:xfrm>
          <a:prstGeom prst="rect">
            <a:avLst/>
          </a:prstGeom>
          <a:solidFill>
            <a:srgbClr val="B88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8046720" y="190195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3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229600" y="25146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NLP / IA Générative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229600" y="306324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SentenceTransformer</a:t>
            </a:r>
            <a:b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+ Agent à appel d'outils (LLM)</a:t>
            </a:r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3794760" y="3063240"/>
            <a:ext cx="502920" cy="0"/>
          </a:xfrm>
          <a:prstGeom prst="straightConnector1">
            <a:avLst/>
          </a:prstGeom>
          <a:noFill/>
          <a:ln w="31750" cap="flat" cmpd="sng">
            <a:solidFill>
              <a:srgbClr val="6B6B6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5" name="Google Shape;175;p17"/>
          <p:cNvCxnSpPr/>
          <p:nvPr/>
        </p:nvCxnSpPr>
        <p:spPr>
          <a:xfrm>
            <a:off x="7543800" y="3063240"/>
            <a:ext cx="502920" cy="0"/>
          </a:xfrm>
          <a:prstGeom prst="straightConnector1">
            <a:avLst/>
          </a:prstGeom>
          <a:noFill/>
          <a:ln w="31750" cap="flat" cmpd="sng">
            <a:solidFill>
              <a:srgbClr val="6B6B6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6" name="Google Shape;176;p17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Enrichissement progressif : les scores des flux 2 et 3 sont réinjectés comme features dans le modèle XGBoost du flux 1.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Correction méthodologique majeure : l'absence de recherche d'hyperparamètres documentée (faille identifiée sur la version précédente) est corrigée par une recherche systématique Optuna, comparée à un GridSearchCV.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3.1 — ML SUPERVISÉ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1 — XGBoost + recherche d'hyperparamètres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48640" y="1417320"/>
            <a:ext cx="603504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Référence actuarielle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GLM Gamma (lien log) avant tout ML — RMSE 27 579, contre 25 813 pour XGBoost tuné ; Chain-Ladder/BF écartés (pas de triangle de développement disponible)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Modèle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XGBoost Regressor — robuste aux outliers, capture des interactions non linéaires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Optuna (TPE Sampler)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40 essais, validation croisée 5 plis sur le RMSE, espace continu (learning_rate, max_depth, n_estimators, subsample, colsample_bytree, min_child_weight)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Comparaison de modèles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GridSearchCV (9 combinaisons) et LightGBM (Optuna, 20 essais) testés en parallèle — pas de vainqueur absolu, signal cohérent entre implémentations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Robustesse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validation croisée répétée (5x5) pour un intervalle de confiance, pas seulement un chiffre ponctuel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7040880" y="1463040"/>
            <a:ext cx="4480560" cy="155448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7178040" y="1572768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-8.3%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132320" y="263347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 RMSE vs XGBoost par défaut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grâce à Optuna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7040880" y="3200400"/>
            <a:ext cx="4480560" cy="155448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7178040" y="3310128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58%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132320" y="437083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 l'importance des hyperparamètres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expliquée par learning_rate seul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040880" y="4937760"/>
            <a:ext cx="448056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fr-FR" sz="13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« Levier prioritaire : taux d'apprentissage (</a:t>
            </a:r>
            <a:r>
              <a:rPr lang="fr-FR" sz="13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learning_rate</a:t>
            </a:r>
            <a:r>
              <a:rPr lang="fr-FR" sz="13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) »</a:t>
            </a:r>
            <a:endParaRPr sz="1300" i="1" dirty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3.2 — DEEP LEARNING NON SUPERVISÉ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2 — Autoencodeur (détection d'anomalies)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48640" y="1417320"/>
            <a:ext cx="5486400" cy="223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5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Architecture : 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Dense 64 → 32 → 16 → 32 → 64, activation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perte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MSE, early stopping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5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Score </a:t>
            </a:r>
            <a:r>
              <a:rPr lang="en-US" sz="145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d'anomalie</a:t>
            </a:r>
            <a:r>
              <a:rPr lang="en-US" sz="145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erreur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de reconstruction par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sinistre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seuil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au 99e percentile (train)</a:t>
            </a:r>
            <a:endParaRPr dirty="0"/>
          </a:p>
          <a:p>
            <a:pPr lvl="0">
              <a:spcBef>
                <a:spcPts val="1000"/>
              </a:spcBef>
            </a:pPr>
            <a:r>
              <a:rPr lang="en-US" sz="115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fr-FR" sz="1450" b="1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Validation croisée </a:t>
            </a:r>
            <a:r>
              <a:rPr lang="fr-FR" sz="1200" dirty="0"/>
              <a:t>: confrontation avec Isolation Forest — accord faible (Jaccard = 0.122), mais le consensus identifie les sinistres les plus coûteux.</a:t>
            </a:r>
          </a:p>
          <a:p>
            <a:pPr lvl="0">
              <a:spcBef>
                <a:spcPts val="1000"/>
              </a:spcBef>
            </a:pPr>
            <a:r>
              <a:rPr lang="en-US" sz="115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5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Réinjection</a:t>
            </a:r>
            <a:r>
              <a:rPr lang="en-US" sz="145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score + flag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binaire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ajoutés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comme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nouvelles</a:t>
            </a:r>
            <a:r>
              <a:rPr lang="en-US" sz="145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features dans </a:t>
            </a:r>
            <a:r>
              <a:rPr lang="en-US" sz="145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dirty="0"/>
          </a:p>
        </p:txBody>
      </p:sp>
      <p:pic>
        <p:nvPicPr>
          <p:cNvPr id="205" name="Google Shape;205;p19" descr="fig_13_cell5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60" y="1516017"/>
            <a:ext cx="5349240" cy="4283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3.3 — NLP / IA GÉNÉRATIVE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3 — NLP, zero-shot et agent à appel d'outils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48640" y="1371600"/>
            <a:ext cx="576072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Embeddings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SentenceTransformer all-MiniLM-L6-v2 (384-d) → PCA à 10 composantes + clustering K-Means/HDBSCAN + t-SNE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Zero-shot par similarité d'embeddings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feature de production, applicable aux 54 000 sinistres sans API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Agent de triage à outils (function calling) :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récupère lui-même ses signaux (get_claim_signals) puis décide d'escalader (flag_for_manual_review) — pas une simple classification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48640" y="3977639"/>
            <a:ext cx="5760720" cy="2103120"/>
          </a:xfrm>
          <a:prstGeom prst="roundRect">
            <a:avLst>
              <a:gd name="adj" fmla="val 8000"/>
            </a:avLst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868680" y="411480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Outils de l'agent : get_claim_signals(claim_number) → outil de contexte</a:t>
            </a:r>
            <a:b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flag_for_manual_review(claim_number, reason, priority) → outil d'action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68680" y="493776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Cible sur les sinistres déjà anormaux (770 sur le train) : coût estimé &lt; 1 $, latence ≈ 20 min (vs ≈ 3 $ et 24h sur les 54 000 sinistres).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4 clusters sémantiques (silhouette)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75120" y="1828800"/>
            <a:ext cx="493776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Coûts moyens de 2 390 à 18 460 selon le cluster (facteur 7.7)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Accord heuristique / zero-shot : 61.5% (kappa = 0.257)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Distribution zero-shot concentrée sur le niveau 2 (81%) — ancres à affiner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4 — RÉSULTATS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Résultats : gain principal issu du tuning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pic>
        <p:nvPicPr>
          <p:cNvPr id="231" name="Google Shape;231;p21" descr="custom_rmse_comparis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60" y="1280160"/>
            <a:ext cx="100584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RMSE (test, 10 800 sinistres) : le tuning Optuna réduit le RMSE de 28 307 à 25 813 (-8.8%). LightGBM est comparable (+0.7%). AE et NLP : gain marginal, à relativiser (slide 11).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4 — ANALYSE DE SENSIBILITÉ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Sensibilité : AE vs Isolation Forest, et NLP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pic>
        <p:nvPicPr>
          <p:cNvPr id="242" name="Google Shape;242;p22" descr="custom_ablation_ga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681843"/>
            <a:ext cx="5577840" cy="358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custom_anomaly_cos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1731645"/>
            <a:ext cx="557784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Les gains de RMSE de l'autoencodeur (+0.19%) et du NLP (+0.96%) restent modestes ; le consensus Autoencodeur + Isolation Forest identifie les sinistres les plus coûteux (45 964 en moyenne).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4.3 — VALIDATION CROISÉE RÉPÉTÉE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Robustesse : la variance cachée derrière un seul chiffre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pic>
        <p:nvPicPr>
          <p:cNvPr id="254" name="Google Shape;254;p23" descr="fig_12_cell5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811830"/>
            <a:ext cx="6309360" cy="36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7040880" y="14630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25 estimations (5 plis x 5)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7040880" y="19202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7178040" y="2029968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28 485 ± 10 345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7132320" y="290779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RMSE moyen et écart-type</a:t>
            </a:r>
            <a:b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(vs 25 813 sur un split unique)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7040880" y="352044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Écart-type = 36% de la moyenne : du même ordre que les gains d'ablation de la slide 10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5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Due aux sinistres extrêmes (max 4M, skewness 37.6) présents ou non selon le pli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7040880" y="55778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Conséquence : tout écart de RMSE inférieur à quelques % doit être lu comme une tendance, pas une certitude.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4.8 — BIAIS DU CRITÈRE DE GAIN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: ReportDelayDays était un artefact, pas un signal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pic>
        <p:nvPicPr>
          <p:cNvPr id="270" name="Google Shape;270;p24" descr="fig_19_cell9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7784" y="1325880"/>
            <a:ext cx="4959631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7040880" y="14173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3 méthodes convergentes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7040880" y="1874519"/>
            <a:ext cx="44805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SHAP : </a:t>
            </a:r>
            <a:r>
              <a:rPr lang="en-US" sz="13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InitialIncurredCalimsCost domine très largement, ReportDelayDays quasi nul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Permutation : </a:t>
            </a:r>
            <a:r>
              <a:rPr lang="en-US" sz="13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InitialIncurredCalimsCost = 7 143, ReportDelayDays = 20.5 (très bruité)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 b="1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Ablation : </a:t>
            </a:r>
            <a:r>
              <a:rPr lang="en-US" sz="13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retirer les variables de déclaration AMÉLIORE le RMSE (-0.84%)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7040880" y="4709160"/>
            <a:ext cx="4480560" cy="1417320"/>
          </a:xfrm>
          <a:prstGeom prst="roundRect">
            <a:avLst>
              <a:gd name="adj" fmla="val 8000"/>
            </a:avLst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315200" y="489204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L'importance native de XGBoost (gain) survalorisait un artefact statistique : recommandation de retirer ces variables en production.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5 — LIMITES &amp; PERSPECTIVES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Limites techniques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48640" y="155448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31520" y="24231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Coût / latence API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731520" y="2971800"/>
            <a:ext cx="233172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Échantillon de démonstration restreint (</a:t>
            </a:r>
            <a:r>
              <a:rPr lang="fr-FR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Zero</a:t>
            </a:r>
            <a:r>
              <a:rPr lang="fr-FR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-shot privilégié pour l'échelle).</a:t>
            </a:r>
            <a:endParaRPr sz="1200"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383280" y="155448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3566160" y="1783080"/>
            <a:ext cx="457200" cy="457200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356616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3566160" y="24231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Variabilité de l'estimation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3566160" y="2971800"/>
            <a:ext cx="2331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fr-FR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Écart-type du RMSE élevé (impact inhérent des valeurs extrêmes).</a:t>
            </a:r>
            <a:endParaRPr sz="1200"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6217920" y="155448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400800" y="24231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Qualité des données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6400800" y="2971799"/>
            <a:ext cx="233172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fr-FR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Nettoyage sans impact mesurable sur le RMSE (confirme la robustesse de </a:t>
            </a:r>
            <a:r>
              <a:rPr lang="fr-FR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fr-FR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).</a:t>
            </a:r>
            <a:endParaRPr sz="1200"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9052560" y="155448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EFF2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92354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9235440" y="24231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Indice d'inflation approximatif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9235440" y="2971800"/>
            <a:ext cx="233172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fr-FR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Proxy utilisé (agrégateur) nécessitant un requêtage direct au BLS en production</a:t>
            </a:r>
            <a:r>
              <a:rPr lang="fr-F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6 — FRAMEWORK TECHNIQUE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technique et reproductibilité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IA &amp; Assurance – Tarification et détection d'anomalies sur les sinistres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548640" y="1463040"/>
            <a:ext cx="5486400" cy="342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Langage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Python 3.11 (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environnement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isolé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uv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aucun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conflit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de version)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ML / DL :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Optuna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TensorFlow /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Keras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Explicabilité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SHAP, permutation importance,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statsmodels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(VIF)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NLP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sentence-transformers (all-MiniLM-L6-v2), HDBSCAN, local, sans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clé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API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IA </a:t>
            </a:r>
            <a:r>
              <a:rPr lang="en-US" sz="1400" b="1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générative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API OpenAI (gpt-4o-mini) —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optionnelle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désactivée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par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défaut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1F6F78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 b="1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Versioning : 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Git, données brutes 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exclues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(.</a:t>
            </a:r>
            <a:r>
              <a:rPr lang="en-US" sz="1400" b="0" i="0" u="none" strike="noStrike" cap="none" dirty="0" err="1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gitignore</a:t>
            </a:r>
            <a:r>
              <a:rPr lang="en-US" sz="1400" b="0" i="0" u="none" strike="noStrike" cap="none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spcBef>
                <a:spcPts val="1000"/>
              </a:spcBef>
            </a:pPr>
            <a:r>
              <a:rPr lang="fr-FR" sz="1100" dirty="0">
                <a:solidFill>
                  <a:srgbClr val="1F6F78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fr-FR" b="1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Limites </a:t>
            </a:r>
            <a:r>
              <a:rPr lang="fr-FR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(RGPD, maturité des sinistres, métrique) documentées de manière transparente.</a:t>
            </a:r>
            <a:endParaRPr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3C5E"/>
                </a:solidFill>
                <a:latin typeface="Calibri"/>
                <a:ea typeface="Calibri"/>
                <a:cs typeface="Calibri"/>
                <a:sym typeface="Calibri"/>
              </a:rPr>
              <a:t>Reproductibilité</a:t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6400800" y="192024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1A3C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6675120" y="2103120"/>
            <a:ext cx="46634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commande (setup_env.ps1) reconstruit l'environnement complet.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+ kernel Jupyter dédié, exécution de bout en bout validée.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Aucune donnée, aucune clé API stockée dans le dépôt.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40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822960" y="1554480"/>
            <a:ext cx="10515600" cy="239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mesuré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référence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actuarielle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classique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(GLM Gamma) avant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d'ajouter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ML, DL non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supervisé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et NLP/IA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générative</a:t>
            </a:r>
            <a:endParaRPr dirty="0"/>
          </a:p>
          <a:p>
            <a:pPr lvl="0">
              <a:spcBef>
                <a:spcPts val="1300"/>
              </a:spcBef>
            </a:pPr>
            <a:r>
              <a:rPr lang="en-US" sz="1150" b="0" i="0" u="none" strike="noStrike" cap="none" dirty="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fr-FR" sz="14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Chaque flux a été audité rigoureusement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traitement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données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mesuré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(pas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supposé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comparaison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modèles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validation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croisée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répétée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reproductibilité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vérifiée</a:t>
            </a:r>
            <a:endParaRPr lang="fr-FR" sz="145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fr-FR" sz="1150" b="0" i="0" u="none" strike="noStrike" cap="none" dirty="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fr-FR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dédié de l'importance des variables : la dominance de </a:t>
            </a:r>
            <a:r>
              <a:rPr lang="fr-FR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ReportDelayDays</a:t>
            </a:r>
            <a:r>
              <a:rPr lang="fr-FR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était un biais du critère de gain (non une fuite), confirmée par 3 méthodes indépendantes</a:t>
            </a:r>
            <a:endParaRPr lang="fr-FR" dirty="0"/>
          </a:p>
          <a:p>
            <a:pPr lvl="0">
              <a:spcBef>
                <a:spcPts val="1300"/>
              </a:spcBef>
            </a:pPr>
            <a:r>
              <a:rPr lang="en-US" sz="1150" b="0" i="0" u="none" strike="noStrike" cap="none" dirty="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fr-FR" sz="14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Arbitrages de mise en production</a:t>
            </a:r>
            <a:r>
              <a:rPr lang="en-US" sz="14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autoencodeur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/NLP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séparés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tarification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conservés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pour le triage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d'anomalies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où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le gain RMSE ne </a:t>
            </a:r>
            <a:r>
              <a:rPr lang="en-US" sz="14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suffit</a:t>
            </a:r>
            <a:r>
              <a:rPr lang="en-US" sz="14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pas à le justifier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40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de votre attention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 ?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Notebook, rapport et code source : github.com/Minato77090/projet-ia-assurance_ACT_209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1855</Words>
  <Application>Microsoft Office PowerPoint</Application>
  <PresentationFormat>Grand écran</PresentationFormat>
  <Paragraphs>167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MAIRLOT Antony</cp:lastModifiedBy>
  <cp:revision>10</cp:revision>
  <dcterms:modified xsi:type="dcterms:W3CDTF">2026-08-24T22:53:17Z</dcterms:modified>
</cp:coreProperties>
</file>